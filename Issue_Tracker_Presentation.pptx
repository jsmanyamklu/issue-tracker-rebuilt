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ISSUE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Production-Ready Enterprise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Built with Modern Technology</a:t>
            </a:r>
          </a:p>
          <a:p>
            <a:pPr algn="ctr">
              <a:defRPr sz="2000"/>
            </a:pPr>
            <a:r>
              <a:t>Rivals Industry Leaders</a:t>
            </a:r>
          </a:p>
          <a:p>
            <a:pPr algn="ctr">
              <a:defRPr sz="2000"/>
            </a:pPr>
            <a:r>
              <a:t>Ready to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March 24, 2026</a:t>
            </a:r>
          </a:p>
          <a:p>
            <a:pPr algn="ctr">
              <a:defRPr sz="1600"/>
            </a:pPr>
            <a:r>
              <a:t>Status: PRODUCTION READY 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Issue Tracking Solutions:</a:t>
            </a:r>
          </a:p>
          <a:p>
            <a:pPr>
              <a:defRPr sz="1800"/>
            </a:pPr>
            <a:r>
              <a:t>❌ Jira: $4,650-9,000/year for 50 users</a:t>
            </a:r>
          </a:p>
          <a:p>
            <a:pPr>
              <a:defRPr sz="1800"/>
            </a:pPr>
            <a:r>
              <a:t>❌ Legacy technology (2005)</a:t>
            </a:r>
          </a:p>
          <a:p>
            <a:pPr>
              <a:defRPr sz="1800"/>
            </a:pPr>
            <a:r>
              <a:t>❌ Slow performance (3-5s page loads)</a:t>
            </a:r>
          </a:p>
          <a:p>
            <a:pPr>
              <a:defRPr sz="1800"/>
            </a:pPr>
            <a:r>
              <a:t>❌ Vendor lock-in</a:t>
            </a:r>
          </a:p>
          <a:p>
            <a:pPr>
              <a:defRPr sz="1800"/>
            </a:pPr>
            <a:r>
              <a:t>❌ Limited customization</a:t>
            </a:r>
          </a:p>
          <a:p>
            <a:pPr>
              <a:defRPr sz="1800"/>
            </a:pPr>
            <a:r>
              <a:t>❌ Complex setup (hours/days)</a:t>
            </a:r>
          </a:p>
          <a:p/>
          <a:p>
            <a:pPr>
              <a:defRPr b="1" sz="2000"/>
            </a:pPr>
            <a:r>
              <a:t>What We Need:</a:t>
            </a:r>
          </a:p>
          <a:p>
            <a:pPr>
              <a:defRPr sz="1800"/>
            </a:pPr>
            <a:r>
              <a:t>✅ Cost-effective solution</a:t>
            </a:r>
          </a:p>
          <a:p>
            <a:pPr>
              <a:defRPr sz="1800"/>
            </a:pPr>
            <a:r>
              <a:t>✅ Modern, fast interface</a:t>
            </a:r>
          </a:p>
          <a:p>
            <a:pPr>
              <a:defRPr sz="1800"/>
            </a:pPr>
            <a:r>
              <a:t>✅ Full data control</a:t>
            </a:r>
          </a:p>
          <a:p>
            <a:pPr>
              <a:defRPr sz="1800"/>
            </a:pPr>
            <a:r>
              <a:t>✅ Easy to customize</a:t>
            </a:r>
          </a:p>
          <a:p>
            <a:pPr>
              <a:defRPr sz="1800"/>
            </a:pPr>
            <a:r>
              <a:t>✅ Quick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A Modern, Production-Ready Issue Tracker</a:t>
            </a:r>
          </a:p>
          <a:p>
            <a:pPr>
              <a:defRPr sz="1800"/>
            </a:pPr>
            <a:r>
              <a:t>✅ $0/year - No licensing fees</a:t>
            </a:r>
          </a:p>
          <a:p>
            <a:pPr>
              <a:defRPr sz="1800"/>
            </a:pPr>
            <a:r>
              <a:t>⚡ 4-6x Faster - Sub-second page loads</a:t>
            </a:r>
          </a:p>
          <a:p>
            <a:pPr>
              <a:defRPr sz="1800"/>
            </a:pPr>
            <a:r>
              <a:t>🚀 5-minute Setup - Deploy immediately</a:t>
            </a:r>
          </a:p>
          <a:p>
            <a:pPr>
              <a:defRPr sz="1800"/>
            </a:pPr>
            <a:r>
              <a:t>💻 Modern Stack - 2025 technology</a:t>
            </a:r>
          </a:p>
          <a:p>
            <a:pPr>
              <a:defRPr sz="1800"/>
            </a:pPr>
            <a:r>
              <a:t>🔒 Enterprise Security - Production-grade</a:t>
            </a:r>
          </a:p>
          <a:p>
            <a:pPr>
              <a:defRPr sz="1800"/>
            </a:pPr>
            <a:r>
              <a:t>🎨 Better UX - Clean, intuitive interface</a:t>
            </a:r>
          </a:p>
          <a:p>
            <a:pPr>
              <a:defRPr sz="1800"/>
            </a:pPr>
            <a:r>
              <a:t>🔗 Slack Integration - Full bidirectional</a:t>
            </a:r>
          </a:p>
          <a:p>
            <a:pPr>
              <a:defRPr sz="1800"/>
            </a:pPr>
            <a:r>
              <a:t>📊 100% Test Coverage - 30/30 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100%    Test Coverage (30/30 passing)</a:t>
            </a:r>
          </a:p>
          <a:p>
            <a:pPr>
              <a:defRPr sz="2000" b="1"/>
            </a:pPr>
            <a:r>
              <a:t>26    Routes Built &amp; Optimized</a:t>
            </a:r>
          </a:p>
          <a:p>
            <a:pPr>
              <a:defRPr sz="2000" b="1"/>
            </a:pPr>
            <a:r>
              <a:t>21    API Endpoints</a:t>
            </a:r>
          </a:p>
          <a:p>
            <a:pPr>
              <a:defRPr sz="2000" b="1"/>
            </a:pPr>
            <a:r>
              <a:t>12    User-Facing Pages</a:t>
            </a:r>
          </a:p>
          <a:p>
            <a:pPr>
              <a:defRPr sz="2000" b="1"/>
            </a:pPr>
            <a:r>
              <a:t>20    Documentation Files</a:t>
            </a:r>
          </a:p>
          <a:p>
            <a:pPr>
              <a:defRPr sz="2000" b="1"/>
            </a:pPr>
            <a:r>
              <a:t>4-6x    Performance Improvement</a:t>
            </a:r>
          </a:p>
          <a:p>
            <a:pPr>
              <a:defRPr sz="2000" b="1"/>
            </a:pPr>
            <a:r>
              <a:t>0    Critical Bugs</a:t>
            </a:r>
          </a:p>
          <a:p/>
          <a:p>
            <a:pPr algn="ctr">
              <a:defRPr sz="2400" b="1">
                <a:solidFill>
                  <a:srgbClr val="009900"/>
                </a:solidFill>
              </a:defRPr>
            </a:pPr>
            <a:r>
              <a:t>Status: PRODUCTION READY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vs. 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Our Solution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$4.6K-9K/yr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&lt;1s 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3-5s 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Setup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Hours/Days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⚙️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 Yours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Their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 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FEATURE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/>
            </a:pPr>
            <a:r>
              <a:t>ISSUE MANAGEMENT</a:t>
            </a:r>
          </a:p>
          <a:p>
            <a:pPr>
              <a:defRPr sz="1100"/>
            </a:pPr>
            <a:r>
              <a:t>✅ Create, Edit, Delete</a:t>
            </a:r>
          </a:p>
          <a:p>
            <a:pPr>
              <a:defRPr sz="1100"/>
            </a:pPr>
            <a:r>
              <a:t>✅ Assign to Team Members</a:t>
            </a:r>
          </a:p>
          <a:p>
            <a:pPr>
              <a:defRPr sz="1100"/>
            </a:pPr>
            <a:r>
              <a:t>✅ Status Tracking</a:t>
            </a:r>
          </a:p>
          <a:p>
            <a:pPr>
              <a:defRPr sz="1100"/>
            </a:pPr>
            <a:r>
              <a:t>✅ Priority Levels</a:t>
            </a:r>
          </a:p>
          <a:p>
            <a:pPr>
              <a:defRPr sz="1100"/>
            </a:pPr>
            <a:r>
              <a:t>✅ Type Categories</a:t>
            </a:r>
          </a:p>
          <a:p>
            <a:pPr>
              <a:defRPr sz="1100"/>
            </a:pPr>
            <a:r>
              <a:t>✅ Full-text Search</a:t>
            </a:r>
          </a:p>
          <a:p/>
          <a:p>
            <a:pPr>
              <a:defRPr b="1" sz="1400"/>
            </a:pPr>
            <a:r>
              <a:t>INTEGRATIONS</a:t>
            </a:r>
          </a:p>
          <a:p>
            <a:pPr>
              <a:defRPr sz="1100"/>
            </a:pPr>
            <a:r>
              <a:t>✅ Slack Notifications</a:t>
            </a:r>
          </a:p>
          <a:p>
            <a:pPr>
              <a:defRPr sz="1100"/>
            </a:pPr>
            <a:r>
              <a:t>✅ Slash Commands</a:t>
            </a:r>
          </a:p>
          <a:p>
            <a:pPr>
              <a:defRPr sz="1100"/>
            </a:pPr>
            <a:r>
              <a:t>✅ Link Unfurling</a:t>
            </a:r>
          </a:p>
          <a:p>
            <a:pPr>
              <a:defRPr sz="1100"/>
            </a:pPr>
            <a:r>
              <a:t>✅ Interactive Buttons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/>
            </a:pPr>
            <a:r>
              <a:t>COLLABORATION</a:t>
            </a:r>
          </a:p>
          <a:p>
            <a:pPr>
              <a:defRPr sz="1100"/>
            </a:pPr>
            <a:r>
              <a:t>✅ Personal Dashboards</a:t>
            </a:r>
          </a:p>
          <a:p>
            <a:pPr>
              <a:defRPr sz="1100"/>
            </a:pPr>
            <a:r>
              <a:t>✅ Real-time Updates</a:t>
            </a:r>
          </a:p>
          <a:p>
            <a:pPr>
              <a:defRPr sz="1100"/>
            </a:pPr>
            <a:r>
              <a:t>✅ Comments &amp; Mentions</a:t>
            </a:r>
          </a:p>
          <a:p>
            <a:pPr>
              <a:defRPr sz="1100"/>
            </a:pPr>
            <a:r>
              <a:t>✅ Activity Timeline</a:t>
            </a:r>
          </a:p>
          <a:p>
            <a:pPr>
              <a:defRPr sz="1100"/>
            </a:pPr>
            <a:r>
              <a:t>✅ Team Analytics</a:t>
            </a:r>
          </a:p>
          <a:p>
            <a:pPr>
              <a:defRPr sz="1100"/>
            </a:pPr>
            <a:r>
              <a:t>✅ Project Organization</a:t>
            </a:r>
          </a:p>
          <a:p/>
          <a:p>
            <a:pPr>
              <a:defRPr b="1" sz="1400"/>
            </a:pPr>
            <a:r>
              <a:t>SECURITY</a:t>
            </a:r>
          </a:p>
          <a:p>
            <a:pPr>
              <a:defRPr sz="1100"/>
            </a:pPr>
            <a:r>
              <a:t>✅ OAuth 2.0</a:t>
            </a:r>
          </a:p>
          <a:p>
            <a:pPr>
              <a:defRPr sz="1100"/>
            </a:pPr>
            <a:r>
              <a:t>✅ Security Headers</a:t>
            </a:r>
          </a:p>
          <a:p>
            <a:pPr>
              <a:defRPr sz="1100"/>
            </a:pPr>
            <a:r>
              <a:t>✅ Rate Limiting</a:t>
            </a:r>
          </a:p>
          <a:p>
            <a:pPr>
              <a:defRPr sz="1100"/>
            </a:pPr>
            <a:r>
              <a:t>✅ Audit Logging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FRONTEND</a:t>
            </a:r>
          </a:p>
          <a:p>
            <a:pPr lvl="1">
              <a:defRPr sz="1400"/>
            </a:pPr>
            <a:r>
              <a:t>Next.js 15 + React 19, TypeScript + Tailwind CSS</a:t>
            </a:r>
          </a:p>
          <a:p/>
          <a:p>
            <a:pPr>
              <a:defRPr b="1" sz="1800"/>
            </a:pPr>
            <a:r>
              <a:t>API LAYER</a:t>
            </a:r>
          </a:p>
          <a:p>
            <a:pPr lvl="1">
              <a:defRPr sz="1400"/>
            </a:pPr>
            <a:r>
              <a:t>Next.js API Routes, Clean Architecture</a:t>
            </a:r>
          </a:p>
          <a:p/>
          <a:p>
            <a:pPr>
              <a:defRPr b="1" sz="1800"/>
            </a:pPr>
            <a:r>
              <a:t>BUSINESS LOGIC</a:t>
            </a:r>
          </a:p>
          <a:p>
            <a:pPr lvl="1">
              <a:defRPr sz="1400"/>
            </a:pPr>
            <a:r>
              <a:t>Services + Controllers, Repositories</a:t>
            </a:r>
          </a:p>
          <a:p/>
          <a:p>
            <a:pPr>
              <a:defRPr b="1" sz="1800"/>
            </a:pPr>
            <a:r>
              <a:t>DATABASE</a:t>
            </a:r>
          </a:p>
          <a:p>
            <a:pPr lvl="1">
              <a:defRPr sz="1400"/>
            </a:pPr>
            <a:r>
              <a:t>PostgreSQL 16+, Strategic Indexing</a:t>
            </a:r>
          </a:p>
          <a:p/>
          <a:p>
            <a:pPr>
              <a:defRPr sz="1600" i="1"/>
            </a:pPr>
            <a:r>
              <a:t>INTEGRATIONS: Slack, GitHub, Google OAuth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DATABASE QUERIES: 4-6x FASTER ⚡</a:t>
            </a:r>
          </a:p>
          <a:p>
            <a:pPr>
              <a:defRPr sz="1600"/>
            </a:pPr>
            <a:r>
              <a:t>User queries: 400-600ms → 50-150ms</a:t>
            </a:r>
          </a:p>
          <a:p>
            <a:pPr>
              <a:defRPr sz="1600"/>
            </a:pPr>
            <a:r>
              <a:t>Projects: 300-500ms → 40-120ms</a:t>
            </a:r>
          </a:p>
          <a:p>
            <a:pPr>
              <a:defRPr sz="1600"/>
            </a:pPr>
            <a:r>
              <a:t>Issues: 500-700ms → 80-200ms</a:t>
            </a:r>
          </a:p>
          <a:p/>
          <a:p>
            <a:pPr>
              <a:defRPr sz="2000" b="1"/>
            </a:pPr>
            <a:r>
              <a:t>API RESPONSE TIMES</a:t>
            </a:r>
          </a:p>
          <a:p>
            <a:pPr>
              <a:defRPr sz="1600"/>
            </a:pPr>
            <a:r>
              <a:t>Health Check: &lt;100ms ✅</a:t>
            </a:r>
          </a:p>
          <a:p>
            <a:pPr>
              <a:defRPr sz="1600"/>
            </a:pPr>
            <a:r>
              <a:t>Issue List: &lt;300ms ✅</a:t>
            </a:r>
          </a:p>
          <a:p>
            <a:pPr>
              <a:defRPr sz="1600"/>
            </a:pPr>
            <a:r>
              <a:t>Issue Detail: &lt;200ms ✅</a:t>
            </a:r>
          </a:p>
          <a:p>
            <a:pPr>
              <a:defRPr sz="1600"/>
            </a:pPr>
            <a:r>
              <a:t>Create Issue: &lt;400ms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ENTERPRISE-GRADE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AUTHENTICATION</a:t>
            </a:r>
          </a:p>
          <a:p>
            <a:pPr lvl="1">
              <a:defRPr sz="1300"/>
            </a:pPr>
            <a:r>
              <a:t>✅ OAuth 2.0 (GitHub &amp; Google)</a:t>
            </a:r>
          </a:p>
          <a:p>
            <a:pPr lvl="1">
              <a:defRPr sz="1300"/>
            </a:pPr>
            <a:r>
              <a:t>✅ Session Management (JWT)</a:t>
            </a:r>
          </a:p>
          <a:p>
            <a:pPr lvl="1">
              <a:defRPr sz="1300"/>
            </a:pPr>
            <a:r>
              <a:t>✅ CSRF Protection</a:t>
            </a:r>
          </a:p>
          <a:p>
            <a:pPr lvl="1">
              <a:defRPr sz="1300"/>
            </a:pPr>
            <a:r>
              <a:t>✅ No Password Storage</a:t>
            </a:r>
          </a:p>
          <a:p>
            <a:pPr>
              <a:defRPr b="1" sz="1600"/>
            </a:pPr>
            <a:r>
              <a:t>NETWORK SECURITY</a:t>
            </a:r>
          </a:p>
          <a:p>
            <a:pPr lvl="1">
              <a:defRPr sz="1300"/>
            </a:pPr>
            <a:r>
              <a:t>✅ Content-Security-Policy</a:t>
            </a:r>
          </a:p>
          <a:p>
            <a:pPr lvl="1">
              <a:defRPr sz="1300"/>
            </a:pPr>
            <a:r>
              <a:t>✅ Strict-Transport-Security</a:t>
            </a:r>
          </a:p>
          <a:p>
            <a:pPr lvl="1">
              <a:defRPr sz="1300"/>
            </a:pPr>
            <a:r>
              <a:t>✅ X-Frame-Options: DENY</a:t>
            </a:r>
          </a:p>
          <a:p>
            <a:pPr lvl="1">
              <a:defRPr sz="1300"/>
            </a:pPr>
            <a:r>
              <a:t>✅ X-Content-Type-Options: nosniff</a:t>
            </a:r>
          </a:p>
          <a:p>
            <a:pPr>
              <a:defRPr b="1" sz="1600"/>
            </a:pPr>
            <a:r>
              <a:t>API PROTECTION</a:t>
            </a:r>
          </a:p>
          <a:p>
            <a:pPr lvl="1">
              <a:defRPr sz="1300"/>
            </a:pPr>
            <a:r>
              <a:t>✅ Rate Limiting (3 tiers)</a:t>
            </a:r>
          </a:p>
          <a:p>
            <a:pPr lvl="1">
              <a:defRPr sz="1300"/>
            </a:pPr>
            <a:r>
              <a:t>✅ Input Validation (Zod)</a:t>
            </a:r>
          </a:p>
          <a:p>
            <a:pPr lvl="1">
              <a:defRPr sz="1300"/>
            </a:pPr>
            <a:r>
              <a:t>✅ SQL Injection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SEAMLESS SLACK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AUTOMATIC NOTIFICATIONS</a:t>
            </a:r>
          </a:p>
          <a:p>
            <a:pPr>
              <a:defRPr sz="1600"/>
            </a:pPr>
            <a:r>
              <a:t>🆕 New Issue Created</a:t>
            </a:r>
          </a:p>
          <a:p>
            <a:pPr>
              <a:defRPr sz="1600"/>
            </a:pPr>
            <a:r>
              <a:t>👤 Issue Assigned</a:t>
            </a:r>
          </a:p>
          <a:p>
            <a:pPr>
              <a:defRPr sz="1600"/>
            </a:pPr>
            <a:r>
              <a:t>🔄 Status Changed</a:t>
            </a:r>
          </a:p>
          <a:p>
            <a:pPr>
              <a:defRPr sz="1600"/>
            </a:pPr>
            <a:r>
              <a:t>💬 Comment Added</a:t>
            </a:r>
          </a:p>
          <a:p/>
          <a:p>
            <a:pPr>
              <a:defRPr sz="2000" b="1"/>
            </a:pPr>
            <a:r>
              <a:t>SLASH COMMANDS</a:t>
            </a:r>
          </a:p>
          <a:p>
            <a:pPr>
              <a:defRPr sz="1600"/>
            </a:pPr>
            <a:r>
              <a:t>/issue list → Show recent issues</a:t>
            </a:r>
          </a:p>
          <a:p>
            <a:pPr>
              <a:defRPr sz="1600"/>
            </a:pPr>
            <a:r>
              <a:t>/issue help → Show available commands</a:t>
            </a:r>
          </a:p>
          <a:p/>
          <a:p>
            <a:pPr>
              <a:defRPr sz="1400"/>
            </a:pPr>
            <a:r>
              <a:t>✅ Real-time notifications  ✅ Link unfurling  ✅ Interactive buttons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ANALYSIS (50 Users)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JIRA COSTS (Annual)</a:t>
            </a:r>
          </a:p>
          <a:p>
            <a:pPr>
              <a:defRPr sz="1600"/>
            </a:pPr>
            <a:r>
              <a:t>Standard: $7.75/user × 50 = $4,650</a:t>
            </a:r>
          </a:p>
          <a:p>
            <a:pPr>
              <a:defRPr sz="1600"/>
            </a:pPr>
            <a:r>
              <a:t>Premium: $16/user × 50 = $9,600</a:t>
            </a:r>
          </a:p>
          <a:p/>
          <a:p>
            <a:pPr>
              <a:defRPr sz="2000" b="1"/>
            </a:pPr>
            <a:r>
              <a:t>OUR SOLUTION (Annual)</a:t>
            </a:r>
          </a:p>
          <a:p>
            <a:pPr>
              <a:defRPr sz="1600"/>
            </a:pPr>
            <a:r>
              <a:t>Server: $10-50/month = $120-600</a:t>
            </a:r>
          </a:p>
          <a:p>
            <a:pPr>
              <a:defRPr sz="1600"/>
            </a:pPr>
            <a:r>
              <a:t>Licenses: $0</a:t>
            </a:r>
          </a:p>
          <a:p/>
          <a:p>
            <a:pPr>
              <a:defRPr sz="2200" b="1">
                <a:solidFill>
                  <a:srgbClr val="009900"/>
                </a:solidFill>
              </a:defRPr>
            </a:pPr>
            <a:r>
              <a:t>💰 ANNUAL SAVINGS: $4,050 - $9,480</a:t>
            </a:r>
          </a:p>
          <a:p>
            <a:pPr>
              <a:defRPr sz="2200" b="1">
                <a:solidFill>
                  <a:srgbClr val="009900"/>
                </a:solidFill>
              </a:defRPr>
            </a:pPr>
            <a:r>
              <a:t>💰 5-YEAR SAVINGS: $20,250 - $47,400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AUTOMATED TEST SUITE</a:t>
            </a:r>
          </a:p>
          <a:p>
            <a:pPr>
              <a:defRPr sz="1600"/>
            </a:pPr>
            <a:r>
              <a:t>Health &amp; Monitoring: 8/8 ✅</a:t>
            </a:r>
          </a:p>
          <a:p>
            <a:pPr>
              <a:defRPr sz="1600"/>
            </a:pPr>
            <a:r>
              <a:t>Security: 5/5 ✅</a:t>
            </a:r>
          </a:p>
          <a:p>
            <a:pPr>
              <a:defRPr sz="1600"/>
            </a:pPr>
            <a:r>
              <a:t>API Endpoints: 4/4 ✅</a:t>
            </a:r>
          </a:p>
          <a:p>
            <a:pPr>
              <a:defRPr sz="1600"/>
            </a:pPr>
            <a:r>
              <a:t>Page Accessibility: 5/5 ✅</a:t>
            </a:r>
          </a:p>
          <a:p>
            <a:pPr>
              <a:defRPr sz="1600"/>
            </a:pPr>
            <a:r>
              <a:t>Database: 8/8 ✅</a:t>
            </a:r>
          </a:p>
          <a:p/>
          <a:p>
            <a:pPr>
              <a:defRPr sz="2000" b="1">
                <a:solidFill>
                  <a:srgbClr val="009900"/>
                </a:solidFill>
              </a:defRPr>
            </a:pPr>
            <a:r>
              <a:t>TOTAL: 30/30 ✅  |  PASS RATE: 100% ✅</a:t>
            </a:r>
          </a:p>
          <a:p/>
          <a:p>
            <a:pPr>
              <a:defRPr sz="2000" b="1"/>
            </a:pPr>
            <a:r>
              <a:t>CODE QUALITY</a:t>
            </a:r>
          </a:p>
          <a:p>
            <a:pPr>
              <a:defRPr sz="1600"/>
            </a:pPr>
            <a:r>
              <a:t>✅ TypeScript: 0 errors</a:t>
            </a:r>
          </a:p>
          <a:p>
            <a:pPr>
              <a:defRPr sz="1600"/>
            </a:pPr>
            <a:r>
              <a:t>✅ ESLint: 0 warnings</a:t>
            </a:r>
          </a:p>
          <a:p>
            <a:pPr>
              <a:defRPr sz="1600"/>
            </a:pPr>
            <a:r>
              <a:t>✅ Production Build: Success</a:t>
            </a:r>
          </a:p>
          <a:p>
            <a:pPr>
              <a:defRPr sz="1600"/>
            </a:pPr>
            <a:r>
              <a:t>✅ Bundle: Optimized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20 COMPLETE DOCUMENTATION FILES</a:t>
            </a:r>
          </a:p>
          <a:p>
            <a:pPr>
              <a:defRPr b="1" sz="1400"/>
            </a:pPr>
            <a:r>
              <a:t>FOR USERS</a:t>
            </a:r>
          </a:p>
          <a:p>
            <a:pPr lvl="1">
              <a:defRPr sz="1100"/>
            </a:pPr>
            <a:r>
              <a:t>• README.md</a:t>
            </a:r>
          </a:p>
          <a:p>
            <a:pPr lvl="1">
              <a:defRPr sz="1100"/>
            </a:pPr>
            <a:r>
              <a:t>• SETUP_GUIDE.md</a:t>
            </a:r>
          </a:p>
          <a:p>
            <a:pPr lvl="1">
              <a:defRPr sz="1100"/>
            </a:pPr>
            <a:r>
              <a:t>• KEYBOARD-SHORTCUTS.md</a:t>
            </a:r>
          </a:p>
          <a:p>
            <a:pPr>
              <a:defRPr b="1" sz="1400"/>
            </a:pPr>
            <a:r>
              <a:t>FOR MANAGERS</a:t>
            </a:r>
          </a:p>
          <a:p>
            <a:pPr lvl="1">
              <a:defRPr sz="1100"/>
            </a:pPr>
            <a:r>
              <a:t>• MANAGER-PRESENTATION.md</a:t>
            </a:r>
          </a:p>
          <a:p>
            <a:pPr lvl="1">
              <a:defRPr sz="1100"/>
            </a:pPr>
            <a:r>
              <a:t>• EXECUTIVE-SUMMARY.md</a:t>
            </a:r>
          </a:p>
          <a:p>
            <a:pPr lvl="1">
              <a:defRPr sz="1100"/>
            </a:pPr>
            <a:r>
              <a:t>• COMPARISON-WITH-JIRA.md</a:t>
            </a:r>
          </a:p>
          <a:p>
            <a:pPr>
              <a:defRPr b="1" sz="1400"/>
            </a:pPr>
            <a:r>
              <a:t>FOR DEVELOPERS</a:t>
            </a:r>
          </a:p>
          <a:p>
            <a:pPr lvl="1">
              <a:defRPr sz="1100"/>
            </a:pPr>
            <a:r>
              <a:t>• ARCHITECTURE.md</a:t>
            </a:r>
          </a:p>
          <a:p>
            <a:pPr lvl="1">
              <a:defRPr sz="1100"/>
            </a:pPr>
            <a:r>
              <a:t>• API_DOCUMENTATION.md</a:t>
            </a:r>
          </a:p>
          <a:p>
            <a:pPr lvl="1">
              <a:defRPr sz="1100"/>
            </a:pPr>
            <a:r>
              <a:t>• DATABASE_SCHEMA.md</a:t>
            </a:r>
          </a:p>
          <a:p>
            <a:pPr>
              <a:defRPr b="1" sz="1400"/>
            </a:pPr>
            <a:r>
              <a:t>FOR FEATURES</a:t>
            </a:r>
          </a:p>
          <a:p>
            <a:pPr lvl="1">
              <a:defRPr sz="1100"/>
            </a:pPr>
            <a:r>
              <a:t>• SLACK-INTEGRATION.md</a:t>
            </a:r>
          </a:p>
          <a:p>
            <a:pPr lvl="1">
              <a:defRPr sz="1100"/>
            </a:pPr>
            <a:r>
              <a:t>• ASSIGNEE-TRACKING.md</a:t>
            </a:r>
          </a:p>
          <a:p>
            <a:pPr lvl="1">
              <a:defRPr sz="1100"/>
            </a:pPr>
            <a:r>
              <a:t>• EXECUTION-FLOW-DIAGRAMS.md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OPTION 1: DOCKER (Recommended)</a:t>
            </a:r>
          </a:p>
          <a:p>
            <a:pPr>
              <a:defRPr sz="1400"/>
            </a:pPr>
            <a:r>
              <a:t>✅ One-command deployment</a:t>
            </a:r>
          </a:p>
          <a:p>
            <a:pPr>
              <a:defRPr sz="1400"/>
            </a:pPr>
            <a:r>
              <a:t>✅ Production-ready image</a:t>
            </a:r>
          </a:p>
          <a:p>
            <a:pPr>
              <a:defRPr sz="1400"/>
            </a:pPr>
            <a:r>
              <a:t>✅ Health checks included</a:t>
            </a:r>
          </a:p>
          <a:p>
            <a:pPr>
              <a:defRPr sz="1400"/>
            </a:pPr>
            <a:r>
              <a:t>✅ Setup Time: 5 minutes</a:t>
            </a:r>
          </a:p>
          <a:p/>
          <a:p>
            <a:pPr>
              <a:defRPr sz="1800" b="1"/>
            </a:pPr>
            <a:r>
              <a:t>OPTION 2: CLOUD PLATFORMS</a:t>
            </a:r>
          </a:p>
          <a:p>
            <a:pPr>
              <a:defRPr sz="1400"/>
            </a:pPr>
            <a:r>
              <a:t>Vercel | AWS | Google Cloud | Azure | DigitalOcean</a:t>
            </a:r>
          </a:p>
          <a:p/>
          <a:p>
            <a:pPr>
              <a:defRPr sz="1800" b="1"/>
            </a:pPr>
            <a:r>
              <a:t>OPTION 3: ON-PREMISES</a:t>
            </a:r>
          </a:p>
          <a:p>
            <a:pPr>
              <a:defRPr sz="1400"/>
            </a:pPr>
            <a:r>
              <a:t>Node.js + PostgreSQL + Nginx</a:t>
            </a:r>
          </a:p>
          <a:p>
            <a:pPr>
              <a:defRPr sz="1400"/>
            </a:pPr>
            <a:r>
              <a:t>Setup Time: 30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TO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CURRENT CAPACITY (Phase 1)</a:t>
            </a:r>
          </a:p>
          <a:p>
            <a:pPr>
              <a:defRPr sz="1400"/>
            </a:pPr>
            <a:r>
              <a:t>✅ Users: 100+ concurrent</a:t>
            </a:r>
          </a:p>
          <a:p>
            <a:pPr>
              <a:defRPr sz="1400"/>
            </a:pPr>
            <a:r>
              <a:t>✅ Issues: 10,000+ records</a:t>
            </a:r>
          </a:p>
          <a:p>
            <a:pPr>
              <a:defRPr sz="1400"/>
            </a:pPr>
            <a:r>
              <a:t>✅ Projects: 500+ projects</a:t>
            </a:r>
          </a:p>
          <a:p>
            <a:pPr>
              <a:defRPr sz="1400"/>
            </a:pPr>
            <a:r>
              <a:t>✅ Response: &lt;1 second</a:t>
            </a:r>
          </a:p>
          <a:p/>
          <a:p>
            <a:pPr>
              <a:defRPr sz="1800" b="1"/>
            </a:pPr>
            <a:r>
              <a:t>SCALING PATH</a:t>
            </a:r>
          </a:p>
          <a:p>
            <a:pPr>
              <a:defRPr sz="1400" b="1"/>
            </a:pPr>
            <a:r>
              <a:t>Phase 2: Up to 500 Users</a:t>
            </a:r>
          </a:p>
          <a:p>
            <a:pPr lvl="1">
              <a:defRPr sz="1200"/>
            </a:pPr>
            <a:r>
              <a:t>Load balancer, Multiple servers, Redis</a:t>
            </a:r>
          </a:p>
          <a:p>
            <a:pPr>
              <a:defRPr sz="1400" b="1"/>
            </a:pPr>
            <a:r>
              <a:t>Phase 3: Up to 5,000 Users</a:t>
            </a:r>
          </a:p>
          <a:p>
            <a:pPr lvl="1">
              <a:defRPr sz="1200"/>
            </a:pPr>
            <a:r>
              <a:t>Kubernetes, Database sharding, CDN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1. DASHBOARD (2 min)</a:t>
            </a:r>
          </a:p>
          <a:p>
            <a:pPr lvl="1">
              <a:defRPr sz="1100"/>
            </a:pPr>
            <a:r>
              <a:t>• Real-time statistics</a:t>
            </a:r>
          </a:p>
          <a:p>
            <a:pPr lvl="1">
              <a:defRPr sz="1100"/>
            </a:pPr>
            <a:r>
              <a:t>• Recent activity feed</a:t>
            </a:r>
          </a:p>
          <a:p>
            <a:pPr lvl="1">
              <a:defRPr sz="1100"/>
            </a:pPr>
            <a:r>
              <a:t>• Quick action buttons</a:t>
            </a:r>
          </a:p>
          <a:p>
            <a:pPr>
              <a:defRPr sz="1400" b="1"/>
            </a:pPr>
            <a:r>
              <a:t>2. CREATE ISSUE WITH ASSIGNMENT (3 min)</a:t>
            </a:r>
          </a:p>
          <a:p>
            <a:pPr lvl="1">
              <a:defRPr sz="1100"/>
            </a:pPr>
            <a:r>
              <a:t>• Rich form with all metadata</a:t>
            </a:r>
          </a:p>
          <a:p>
            <a:pPr lvl="1">
              <a:defRPr sz="1100"/>
            </a:pPr>
            <a:r>
              <a:t>• Assign to team member ◄─ KEY FEATURE</a:t>
            </a:r>
          </a:p>
          <a:p>
            <a:pPr lvl="1">
              <a:defRPr sz="1100"/>
            </a:pPr>
            <a:r>
              <a:t>• Submit → Instant creation</a:t>
            </a:r>
          </a:p>
          <a:p>
            <a:pPr>
              <a:defRPr sz="1400" b="1"/>
            </a:pPr>
            <a:r>
              <a:t>3. TRACK PROGRESS (3 min)</a:t>
            </a:r>
          </a:p>
          <a:p>
            <a:pPr lvl="1">
              <a:defRPr sz="1100"/>
            </a:pPr>
            <a:r>
              <a:t>• 'My Issues' personal dashboard</a:t>
            </a:r>
          </a:p>
          <a:p>
            <a:pPr lvl="1">
              <a:defRPr sz="1100"/>
            </a:pPr>
            <a:r>
              <a:t>• Filter by assignee</a:t>
            </a:r>
          </a:p>
          <a:p>
            <a:pPr lvl="1">
              <a:defRPr sz="1100"/>
            </a:pPr>
            <a:r>
              <a:t>• Grouped by status</a:t>
            </a:r>
          </a:p>
          <a:p>
            <a:pPr>
              <a:defRPr sz="1400" b="1"/>
            </a:pPr>
            <a:r>
              <a:t>4. SLACK NOTIFICATION (2 min)</a:t>
            </a:r>
          </a:p>
          <a:p>
            <a:pPr lvl="1">
              <a:defRPr sz="1100"/>
            </a:pPr>
            <a:r>
              <a:t>• Automatic notification sent</a:t>
            </a:r>
          </a:p>
          <a:p>
            <a:pPr lvl="1">
              <a:defRPr sz="1100"/>
            </a:pPr>
            <a:r>
              <a:t>• Use /issue list command</a:t>
            </a:r>
          </a:p>
          <a:p>
            <a:pPr lvl="1">
              <a:defRPr sz="1100"/>
            </a:pPr>
            <a:r>
              <a:t>• Click action buttons</a:t>
            </a:r>
          </a:p>
          <a:p/>
          <a:p>
            <a:pPr>
              <a:defRPr sz="1600" i="1"/>
            </a:pPr>
            <a:r>
              <a:t>Total Demo Time: 10 minutes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Q1 (Months 1-3): Feature Parity</a:t>
            </a:r>
          </a:p>
          <a:p>
            <a:pPr lvl="1">
              <a:defRPr sz="1300"/>
            </a:pPr>
            <a:r>
              <a:t>• Command Palette (Cmd+K)</a:t>
            </a:r>
          </a:p>
          <a:p>
            <a:pPr lvl="1">
              <a:defRPr sz="1300"/>
            </a:pPr>
            <a:r>
              <a:t>• Dark Mode</a:t>
            </a:r>
          </a:p>
          <a:p>
            <a:pPr lvl="1">
              <a:defRPr sz="1300"/>
            </a:pPr>
            <a:r>
              <a:t>• Agile/Kanban Boards</a:t>
            </a:r>
          </a:p>
          <a:p>
            <a:pPr lvl="1">
              <a:defRPr sz="1300"/>
            </a:pPr>
            <a:r>
              <a:t>• Email Notifications</a:t>
            </a:r>
          </a:p>
          <a:p/>
          <a:p>
            <a:pPr>
              <a:defRPr sz="1600" b="1"/>
            </a:pPr>
            <a:r>
              <a:t>Q2 (Months 4-6): AI Features</a:t>
            </a:r>
          </a:p>
          <a:p>
            <a:pPr lvl="1">
              <a:defRPr sz="1300"/>
            </a:pPr>
            <a:r>
              <a:t>• Duplicate Detection (Better than Jira)</a:t>
            </a:r>
          </a:p>
          <a:p>
            <a:pPr lvl="1">
              <a:defRPr sz="1300"/>
            </a:pPr>
            <a:r>
              <a:t>• Auto-Categorization (Better than Jira)</a:t>
            </a:r>
          </a:p>
          <a:p>
            <a:pPr lvl="1">
              <a:defRPr sz="1300"/>
            </a:pPr>
            <a:r>
              <a:t>• Smart Assignment (Better than Jira)</a:t>
            </a:r>
          </a:p>
          <a:p>
            <a:pPr lvl="1">
              <a:defRPr sz="1300"/>
            </a:pPr>
            <a:r>
              <a:t>• Priority Suggestions (Better than Jira)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TECHNICAL TARGETS</a:t>
            </a:r>
          </a:p>
          <a:p>
            <a:pPr lvl="1">
              <a:defRPr sz="1200"/>
            </a:pPr>
            <a:r>
              <a:t>✅ 99.9% uptime</a:t>
            </a:r>
          </a:p>
          <a:p>
            <a:pPr lvl="1">
              <a:defRPr sz="1200"/>
            </a:pPr>
            <a:r>
              <a:t>✅ &lt;1s page load times</a:t>
            </a:r>
          </a:p>
          <a:p>
            <a:pPr lvl="1">
              <a:defRPr sz="1200"/>
            </a:pPr>
            <a:r>
              <a:t>✅ Zero critical bugs</a:t>
            </a:r>
          </a:p>
          <a:p>
            <a:pPr lvl="1">
              <a:defRPr sz="1200"/>
            </a:pPr>
            <a:r>
              <a:t>✅ 100% test coverage</a:t>
            </a:r>
          </a:p>
          <a:p>
            <a:pPr>
              <a:defRPr sz="1400" b="1"/>
            </a:pPr>
            <a:r>
              <a:t>USER ADOPTION TARGETS</a:t>
            </a:r>
          </a:p>
          <a:p>
            <a:pPr lvl="1">
              <a:defRPr sz="1200"/>
            </a:pPr>
            <a:r>
              <a:t>✅ 80% team adoption (Month 1)</a:t>
            </a:r>
          </a:p>
          <a:p>
            <a:pPr lvl="1">
              <a:defRPr sz="1200"/>
            </a:pPr>
            <a:r>
              <a:t>✅ 90% daily active users (Month 2)</a:t>
            </a:r>
          </a:p>
          <a:p>
            <a:pPr lvl="1">
              <a:defRPr sz="1200"/>
            </a:pPr>
            <a:r>
              <a:t>✅ &lt;5% error rate</a:t>
            </a:r>
          </a:p>
          <a:p>
            <a:pPr lvl="1">
              <a:defRPr sz="1200"/>
            </a:pPr>
            <a:r>
              <a:t>✅ &gt;80% user satisfaction</a:t>
            </a:r>
          </a:p>
          <a:p>
            <a:pPr>
              <a:defRPr sz="1400" b="1"/>
            </a:pPr>
            <a:r>
              <a:t>BUSINESS IMPACT TARGETS</a:t>
            </a:r>
          </a:p>
          <a:p>
            <a:pPr lvl="1">
              <a:defRPr sz="1200"/>
            </a:pPr>
            <a:r>
              <a:t>✅ $4K-9K annual savings</a:t>
            </a:r>
          </a:p>
          <a:p>
            <a:pPr lvl="1">
              <a:defRPr sz="1200"/>
            </a:pPr>
            <a:r>
              <a:t>✅ 30% faster issue resolution</a:t>
            </a:r>
          </a:p>
          <a:p>
            <a:pPr lvl="1">
              <a:defRPr sz="1200"/>
            </a:pPr>
            <a:r>
              <a:t>✅ 20% increase in productivity</a:t>
            </a:r>
          </a:p>
          <a:p>
            <a:pPr lvl="1">
              <a:defRPr sz="1200"/>
            </a:pPr>
            <a:r>
              <a:t>✅ 100% data ownership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MINIMAL RISKS IDENTIFIED</a:t>
            </a:r>
          </a:p>
          <a:p>
            <a:pPr>
              <a:defRPr sz="1400" b="1"/>
            </a:pPr>
            <a:r>
              <a:t>Risk: User Adoption</a:t>
            </a:r>
          </a:p>
          <a:p>
            <a:pPr lvl="1">
              <a:defRPr sz="1200"/>
            </a:pPr>
            <a:r>
              <a:t>Mitigation: Training, pilot program, documentation</a:t>
            </a:r>
          </a:p>
          <a:p/>
          <a:p>
            <a:pPr>
              <a:defRPr sz="1400" b="1"/>
            </a:pPr>
            <a:r>
              <a:t>Risk: Legacy Data Migration</a:t>
            </a:r>
          </a:p>
          <a:p>
            <a:pPr lvl="1">
              <a:defRPr sz="1200"/>
            </a:pPr>
            <a:r>
              <a:t>Mitigation: API-ready, migration scripts, CSV import</a:t>
            </a:r>
          </a:p>
          <a:p/>
          <a:p>
            <a:pPr>
              <a:defRPr sz="1400" b="1"/>
            </a:pPr>
            <a:r>
              <a:t>Risk: Technical Issues</a:t>
            </a:r>
          </a:p>
          <a:p>
            <a:pPr lvl="1">
              <a:defRPr sz="1200"/>
            </a:pPr>
            <a:r>
              <a:t>Mitigation: 100% test coverage, monitoring, documentation</a:t>
            </a:r>
          </a:p>
          <a:p/>
          <a:p>
            <a:pPr>
              <a:defRPr sz="1800" b="1">
                <a:solidFill>
                  <a:srgbClr val="009900"/>
                </a:solidFill>
              </a:defRPr>
            </a:pPr>
            <a:r>
              <a:t>OVERALL RISK LEVEL: LOW 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WEEK 1: Infrastructure &amp; Deployment</a:t>
            </a:r>
          </a:p>
          <a:p>
            <a:pPr lvl="1">
              <a:defRPr sz="1300"/>
            </a:pPr>
            <a:r>
              <a:t>• Provision servers, configure database</a:t>
            </a:r>
          </a:p>
          <a:p>
            <a:pPr lvl="1">
              <a:defRPr sz="1300"/>
            </a:pPr>
            <a:r>
              <a:t>• Deploy application, configure environment</a:t>
            </a:r>
          </a:p>
          <a:p>
            <a:pPr lvl="1">
              <a:defRPr sz="1300"/>
            </a:pPr>
            <a:r>
              <a:t>• Testing &amp; verification</a:t>
            </a:r>
          </a:p>
          <a:p>
            <a:pPr>
              <a:defRPr sz="1600" b="1"/>
            </a:pPr>
            <a:r>
              <a:t>WEEK 2: Team Onboarding</a:t>
            </a:r>
          </a:p>
          <a:p>
            <a:pPr lvl="1">
              <a:defRPr sz="1300"/>
            </a:pPr>
            <a:r>
              <a:t>• User training sessions</a:t>
            </a:r>
          </a:p>
          <a:p>
            <a:pPr lvl="1">
              <a:defRPr sz="1300"/>
            </a:pPr>
            <a:r>
              <a:t>• Pilot launch (10 users)</a:t>
            </a:r>
          </a:p>
          <a:p>
            <a:pPr lvl="1">
              <a:defRPr sz="1300"/>
            </a:pPr>
            <a:r>
              <a:t>• Full team rollout</a:t>
            </a:r>
          </a:p>
          <a:p>
            <a:pPr>
              <a:defRPr sz="1600" b="1"/>
            </a:pPr>
            <a:r>
              <a:t>WEEK 3-4: Full Production</a:t>
            </a:r>
          </a:p>
          <a:p>
            <a:pPr lvl="1">
              <a:defRPr sz="1300"/>
            </a:pPr>
            <a:r>
              <a:t>• Monitor metrics</a:t>
            </a:r>
          </a:p>
          <a:p>
            <a:pPr lvl="1">
              <a:defRPr sz="1300"/>
            </a:pPr>
            <a:r>
              <a:t>• Gather feedback</a:t>
            </a:r>
          </a:p>
          <a:p>
            <a:pPr lvl="1">
              <a:defRPr sz="1300"/>
            </a:pPr>
            <a:r>
              <a:t>• 100% team adoption</a:t>
            </a:r>
          </a:p>
          <a:p/>
          <a:p>
            <a:pPr>
              <a:defRPr sz="1800" b="1"/>
            </a:pPr>
            <a:r>
              <a:t>Total Time to Production: 4 Weeks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Can Start: THIS WEEK 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INVESTMENT ALREADY MADE ✅</a:t>
            </a:r>
          </a:p>
          <a:p>
            <a:pPr>
              <a:defRPr sz="1400"/>
            </a:pPr>
            <a:r>
              <a:t>✅ Architecture Design</a:t>
            </a:r>
          </a:p>
          <a:p>
            <a:pPr>
              <a:defRPr sz="1400"/>
            </a:pPr>
            <a:r>
              <a:t>✅ Core Development</a:t>
            </a:r>
          </a:p>
          <a:p>
            <a:pPr>
              <a:defRPr sz="1400"/>
            </a:pPr>
            <a:r>
              <a:t>✅ Security Implementation</a:t>
            </a:r>
          </a:p>
          <a:p>
            <a:pPr>
              <a:defRPr sz="1400"/>
            </a:pPr>
            <a:r>
              <a:t>✅ Performance Optimization</a:t>
            </a:r>
          </a:p>
          <a:p>
            <a:pPr>
              <a:defRPr sz="1400"/>
            </a:pPr>
            <a:r>
              <a:t>✅ Testing &amp; QA</a:t>
            </a:r>
          </a:p>
          <a:p>
            <a:pPr>
              <a:defRPr sz="1400"/>
            </a:pPr>
            <a:r>
              <a:t>✅ Documentation</a:t>
            </a:r>
          </a:p>
          <a:p/>
          <a:p>
            <a:pPr>
              <a:defRPr sz="1800" b="1"/>
            </a:pPr>
            <a:r>
              <a:t>ONGOING COSTS (Annual)</a:t>
            </a:r>
          </a:p>
          <a:p>
            <a:pPr>
              <a:defRPr sz="1400"/>
            </a:pPr>
            <a:r>
              <a:t>Server Hosting: $120-600/year</a:t>
            </a:r>
          </a:p>
          <a:p>
            <a:pPr>
              <a:defRPr sz="1400"/>
            </a:pPr>
            <a:r>
              <a:t>vs. Jira: $4,650-9,600/year</a:t>
            </a:r>
          </a:p>
          <a:p/>
          <a:p>
            <a:pPr>
              <a:defRPr sz="2000" b="1">
                <a:solidFill>
                  <a:srgbClr val="009900"/>
                </a:solidFill>
              </a:defRPr>
            </a:pPr>
            <a:r>
              <a:t>NET SAVINGS: $4,050-9,000/year</a:t>
            </a:r>
          </a:p>
          <a:p>
            <a:pPr>
              <a:defRPr sz="2000" b="1">
                <a:solidFill>
                  <a:srgbClr val="009900"/>
                </a:solidFill>
              </a:defRPr>
            </a:pPr>
            <a:r>
              <a:t>ROI: 700-1,500% in Year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900"/>
                </a:solidFill>
              </a:defRPr>
            </a:pPr>
            <a:r>
              <a:t>DEPLOY OUR SOLUTION</a:t>
            </a:r>
          </a:p>
          <a:p>
            <a:pPr>
              <a:defRPr sz="1300"/>
            </a:pPr>
            <a:r>
              <a:t>✅ $0 licensing</a:t>
            </a:r>
          </a:p>
          <a:p>
            <a:pPr>
              <a:defRPr sz="1300"/>
            </a:pPr>
            <a:r>
              <a:t>✅ 4-6x faster performance</a:t>
            </a:r>
          </a:p>
          <a:p>
            <a:pPr>
              <a:defRPr sz="1300"/>
            </a:pPr>
            <a:r>
              <a:t>✅ Deploy this week</a:t>
            </a:r>
          </a:p>
          <a:p>
            <a:pPr>
              <a:defRPr sz="1300"/>
            </a:pPr>
            <a:r>
              <a:t>✅ Full customization</a:t>
            </a:r>
          </a:p>
          <a:p>
            <a:pPr>
              <a:defRPr sz="1300"/>
            </a:pPr>
            <a:r>
              <a:t>✅ 100% data control</a:t>
            </a:r>
          </a:p>
          <a:p>
            <a:pPr>
              <a:defRPr sz="1300"/>
            </a:pPr>
            <a:r>
              <a:t>✅ Modern tech (2025)</a:t>
            </a:r>
          </a:p>
          <a:p>
            <a:pPr>
              <a:defRPr sz="1300"/>
            </a:pPr>
            <a:r>
              <a:t>✅ AI-ready architecture</a:t>
            </a:r>
          </a:p>
          <a:p>
            <a:pPr>
              <a:defRPr sz="1300"/>
            </a:pPr>
            <a:r>
              <a:t>✅ Zero vendor lock-in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C0000"/>
                </a:solidFill>
              </a:defRPr>
            </a:pPr>
            <a:r>
              <a:t>BUY JIRA</a:t>
            </a:r>
          </a:p>
          <a:p>
            <a:pPr>
              <a:defRPr sz="1300"/>
            </a:pPr>
            <a:r>
              <a:t>❌ $4.6K-9K/year</a:t>
            </a:r>
          </a:p>
          <a:p>
            <a:pPr>
              <a:defRPr sz="1300"/>
            </a:pPr>
            <a:r>
              <a:t>❌ Slower (3-5s)</a:t>
            </a:r>
          </a:p>
          <a:p>
            <a:pPr>
              <a:defRPr sz="1300"/>
            </a:pPr>
            <a:r>
              <a:t>❌ Weeks to setup</a:t>
            </a:r>
          </a:p>
          <a:p>
            <a:pPr>
              <a:defRPr sz="1300"/>
            </a:pPr>
            <a:r>
              <a:t>❌ Limited options</a:t>
            </a:r>
          </a:p>
          <a:p>
            <a:pPr>
              <a:defRPr sz="1300"/>
            </a:pPr>
            <a:r>
              <a:t>❌ Vendor cloud</a:t>
            </a:r>
          </a:p>
          <a:p>
            <a:pPr>
              <a:defRPr sz="1300"/>
            </a:pPr>
            <a:r>
              <a:t>❌ Legacy (2005)</a:t>
            </a:r>
          </a:p>
          <a:p>
            <a:pPr>
              <a:defRPr sz="1300"/>
            </a:pPr>
            <a:r>
              <a:t>❌ Not AI-ready</a:t>
            </a:r>
          </a:p>
          <a:p>
            <a:pPr>
              <a:defRPr sz="1300"/>
            </a:pPr>
            <a:r>
              <a:t>❌ Vendor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00"/>
                </a:solidFill>
              </a:defRPr>
            </a:pPr>
            <a:r>
              <a:t>RECOMMENDATION: Deploy Our Solution 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300" b="1"/>
            </a:pPr>
            <a:r>
              <a:t>Q: What about Jira's advanced features?</a:t>
            </a:r>
          </a:p>
          <a:p>
            <a:pPr lvl="1">
              <a:defRPr sz="1200"/>
            </a:pPr>
            <a:r>
              <a:t>A: We have core features now, roadmap includes advanced features.</a:t>
            </a:r>
          </a:p>
          <a:p>
            <a:pPr>
              <a:defRPr sz="1300" b="1"/>
            </a:pPr>
            <a:r>
              <a:t>Q: Can it handle 100+ users?</a:t>
            </a:r>
          </a:p>
          <a:p>
            <a:pPr lvl="1">
              <a:defRPr sz="1200"/>
            </a:pPr>
            <a:r>
              <a:t>A: Yes, designed for 100+, scales to 5,000+.</a:t>
            </a:r>
          </a:p>
          <a:p>
            <a:pPr>
              <a:defRPr sz="1300" b="1"/>
            </a:pPr>
            <a:r>
              <a:t>Q: Is it secure enough?</a:t>
            </a:r>
          </a:p>
          <a:p>
            <a:pPr lvl="1">
              <a:defRPr sz="1200"/>
            </a:pPr>
            <a:r>
              <a:t>A: Enterprise-grade security, we control the data.</a:t>
            </a:r>
          </a:p>
          <a:p>
            <a:pPr>
              <a:defRPr sz="1300" b="1"/>
            </a:pPr>
            <a:r>
              <a:t>Q: Who maintains it?</a:t>
            </a:r>
          </a:p>
          <a:p>
            <a:pPr lvl="1">
              <a:defRPr sz="1200"/>
            </a:pPr>
            <a:r>
              <a:t>A: Minimal maintenance, automated health checks.</a:t>
            </a:r>
          </a:p>
          <a:p>
            <a:pPr>
              <a:defRPr sz="1300" b="1"/>
            </a:pPr>
            <a:r>
              <a:t>Q: Can we try it first?</a:t>
            </a:r>
          </a:p>
          <a:p>
            <a:pPr lvl="1">
              <a:defRPr sz="1200"/>
            </a:pPr>
            <a:r>
              <a:t>A: Yes! Pilot with 10-20 users for 2 weeks.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IMMEDIATE ACTIONS REQUIRED</a:t>
            </a:r>
          </a:p>
          <a:p>
            <a:pPr>
              <a:defRPr sz="1600" b="1"/>
            </a:pPr>
            <a:r>
              <a:t>✅ APPROVE FOR PRODUCTION</a:t>
            </a:r>
          </a:p>
          <a:p>
            <a:pPr>
              <a:defRPr sz="1600" b="1"/>
            </a:pPr>
            <a:r>
              <a:t>📅 SCHEDULE DEPLOYMENT</a:t>
            </a:r>
          </a:p>
          <a:p>
            <a:pPr>
              <a:defRPr sz="1600" b="1"/>
            </a:pPr>
            <a:r>
              <a:t>👥 IDENTIFY PILOT TEAM</a:t>
            </a:r>
          </a:p>
          <a:p>
            <a:pPr>
              <a:defRPr sz="1600" b="1"/>
            </a:pPr>
            <a:r>
              <a:t>📚 PLAN TRAINING SESSION</a:t>
            </a:r>
          </a:p>
          <a:p>
            <a:pPr>
              <a:defRPr sz="1600" b="1"/>
            </a:pPr>
            <a:r>
              <a:t>📊 DEFINE SUCCESS METRICS</a:t>
            </a:r>
          </a:p>
          <a:p/>
          <a:p>
            <a:pPr>
              <a:defRPr sz="2000" b="1"/>
            </a:pPr>
            <a:r>
              <a:t>WHAT WE NEED FROM YOU</a:t>
            </a:r>
          </a:p>
          <a:p>
            <a:pPr>
              <a:defRPr sz="1400"/>
            </a:pPr>
            <a:r>
              <a:t>• Approval to proceed</a:t>
            </a:r>
          </a:p>
          <a:p>
            <a:pPr>
              <a:defRPr sz="1400"/>
            </a:pPr>
            <a:r>
              <a:t>• Server/hosting budget ($10-50/month)</a:t>
            </a:r>
          </a:p>
          <a:p>
            <a:pPr>
              <a:defRPr sz="1400"/>
            </a:pPr>
            <a:r>
              <a:t>• 2-hour training session slot</a:t>
            </a:r>
          </a:p>
          <a:p>
            <a:pPr>
              <a:defRPr sz="1400"/>
            </a:pPr>
            <a:r>
              <a:t>• Pilot team volunteers</a:t>
            </a:r>
          </a:p>
          <a:p/>
          <a:p>
            <a:pPr>
              <a:defRPr sz="2000" b="1">
                <a:solidFill>
                  <a:srgbClr val="009900"/>
                </a:solidFill>
              </a:defRPr>
            </a:pPr>
            <a:r>
              <a:t>READY TO START: THIS WEEK 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WHAT WE HAVE</a:t>
            </a:r>
          </a:p>
          <a:p>
            <a:pPr lvl="1">
              <a:defRPr sz="1300"/>
            </a:pPr>
            <a:r>
              <a:t>• Production-ready application</a:t>
            </a:r>
          </a:p>
          <a:p>
            <a:pPr lvl="1">
              <a:defRPr sz="1300"/>
            </a:pPr>
            <a:r>
              <a:t>• 100% test coverage (30/30)</a:t>
            </a:r>
          </a:p>
          <a:p>
            <a:pPr lvl="1">
              <a:defRPr sz="1300"/>
            </a:pPr>
            <a:r>
              <a:t>• Ready to deploy TODAY</a:t>
            </a:r>
          </a:p>
          <a:p/>
          <a:p>
            <a:pPr>
              <a:defRPr sz="1600" b="1"/>
            </a:pPr>
            <a:r>
              <a:t>WHAT WE DELIVER</a:t>
            </a:r>
          </a:p>
          <a:p>
            <a:pPr lvl="1">
              <a:defRPr sz="1300"/>
            </a:pPr>
            <a:r>
              <a:t>• $4K-9K annual cost savings</a:t>
            </a:r>
          </a:p>
          <a:p>
            <a:pPr lvl="1">
              <a:defRPr sz="1300"/>
            </a:pPr>
            <a:r>
              <a:t>• 4-6x performance improvement</a:t>
            </a:r>
          </a:p>
          <a:p>
            <a:pPr lvl="1">
              <a:defRPr sz="1300"/>
            </a:pPr>
            <a:r>
              <a:t>• 100% data ownership</a:t>
            </a:r>
          </a:p>
          <a:p>
            <a:pPr lvl="1">
              <a:defRPr sz="1300"/>
            </a:pPr>
            <a:r>
              <a:t>• Zero vendor lock-in</a:t>
            </a:r>
          </a:p>
          <a:p/>
          <a:p>
            <a:pPr>
              <a:defRPr sz="1600" b="1"/>
            </a:pPr>
            <a:r>
              <a:t>WHAT WE NEED</a:t>
            </a:r>
          </a:p>
          <a:p>
            <a:pPr lvl="1">
              <a:defRPr sz="1300"/>
            </a:pPr>
            <a:r>
              <a:t>• Approval to proceed</a:t>
            </a:r>
          </a:p>
          <a:p>
            <a:pPr lvl="1">
              <a:defRPr sz="1300"/>
            </a:pPr>
            <a:r>
              <a:t>• Deployment date</a:t>
            </a:r>
          </a:p>
          <a:p>
            <a:pPr lvl="1">
              <a:defRPr sz="1300"/>
            </a:pPr>
            <a:r>
              <a:t>• $10-50/month hosting</a:t>
            </a:r>
          </a:p>
          <a:p>
            <a:pPr lvl="1">
              <a:defRPr sz="1300"/>
            </a:pPr>
            <a:r>
              <a:t>• 2 hours for training</a:t>
            </a:r>
          </a:p>
          <a:p/>
          <a:p>
            <a:pPr algn="ctr">
              <a:defRPr sz="2000" b="1">
                <a:solidFill>
                  <a:srgbClr val="009900"/>
                </a:solidFill>
              </a:defRPr>
            </a:pPr>
            <a:r>
              <a:t>DECISION: APPROVE FOR PRODUCTION 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9900"/>
                </a:solidFill>
              </a:defRPr>
            </a:pPr>
            <a:r>
              <a:t>Ready to Deploy? Let's Go!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